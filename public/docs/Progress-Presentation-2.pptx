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79" r:id="rId3"/>
    <p:sldId id="415" r:id="rId4"/>
    <p:sldId id="417" r:id="rId5"/>
    <p:sldId id="317" r:id="rId6"/>
    <p:sldId id="418" r:id="rId7"/>
    <p:sldId id="422" r:id="rId8"/>
    <p:sldId id="423" r:id="rId9"/>
    <p:sldId id="419" r:id="rId10"/>
    <p:sldId id="424" r:id="rId11"/>
    <p:sldId id="425" r:id="rId12"/>
    <p:sldId id="420" r:id="rId13"/>
    <p:sldId id="426" r:id="rId14"/>
    <p:sldId id="427" r:id="rId15"/>
    <p:sldId id="421" r:id="rId16"/>
    <p:sldId id="428" r:id="rId17"/>
    <p:sldId id="429" r:id="rId18"/>
    <p:sldId id="430" r:id="rId19"/>
    <p:sldId id="286" r:id="rId20"/>
    <p:sldId id="431" r:id="rId21"/>
  </p:sldIdLst>
  <p:sldSz cx="18288000" cy="10287000"/>
  <p:notesSz cx="6858000" cy="9144000"/>
  <p:embeddedFontLs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DM Sans" pitchFamily="2" charset="0"/>
      <p:regular r:id="rId27"/>
      <p:bold r:id="rId28"/>
      <p:italic r:id="rId29"/>
      <p:boldItalic r:id="rId30"/>
    </p:embeddedFont>
    <p:embeddedFont>
      <p:font typeface="Fira Sans" panose="020B0503050000020004" pitchFamily="34" charset="0"/>
      <p:regular r:id="rId31"/>
      <p:bold r:id="rId32"/>
      <p:italic r:id="rId33"/>
      <p:boldItalic r:id="rId34"/>
    </p:embeddedFont>
    <p:embeddedFont>
      <p:font typeface="Libre Baskerville" panose="02000000000000000000" pitchFamily="2" charset="0"/>
      <p:regular r:id="rId35"/>
      <p:bold r:id="rId36"/>
      <p:italic r:id="rId37"/>
    </p:embeddedFont>
    <p:embeddedFont>
      <p:font typeface="Libre Baskerville Bold" panose="02000000000000000000" charset="0"/>
      <p:regular r:id="rId38"/>
    </p:embeddedFont>
    <p:embeddedFont>
      <p:font typeface="Libre Baskerville Italics" panose="020B0604020202020204" charset="0"/>
      <p:regular r:id="rId39"/>
    </p:embeddedFont>
    <p:embeddedFont>
      <p:font typeface="Noto Serif" panose="02020600060500020200" pitchFamily="18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D95F"/>
    <a:srgbClr val="339966"/>
    <a:srgbClr val="0080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0" autoAdjust="0"/>
    <p:restoredTop sz="94622" autoAdjust="0"/>
  </p:normalViewPr>
  <p:slideViewPr>
    <p:cSldViewPr>
      <p:cViewPr varScale="1">
        <p:scale>
          <a:sx n="40" d="100"/>
          <a:sy n="40" d="100"/>
        </p:scale>
        <p:origin x="629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DD597-3237-4F74-B86A-5D0E5687A3EB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555F0-DA2F-4620-9A3C-1CC54A30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57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4495800" y="743855"/>
            <a:ext cx="11887200" cy="4803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736"/>
              </a:lnSpc>
            </a:pPr>
            <a:r>
              <a:rPr lang="en-US" sz="9600" i="1" dirty="0">
                <a:solidFill>
                  <a:srgbClr val="339966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 Student Mental Health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60053" y="5981700"/>
            <a:ext cx="7696200" cy="1047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771"/>
              </a:lnSpc>
            </a:pPr>
            <a:r>
              <a:rPr lang="en-US" sz="6000" b="1" dirty="0">
                <a:solidFill>
                  <a:srgbClr val="0F1A38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Mobile App</a:t>
            </a:r>
          </a:p>
        </p:txBody>
      </p:sp>
      <p:sp>
        <p:nvSpPr>
          <p:cNvPr id="30" name="Freeform 2">
            <a:extLst>
              <a:ext uri="{FF2B5EF4-FFF2-40B4-BE49-F238E27FC236}">
                <a16:creationId xmlns:a16="http://schemas.microsoft.com/office/drawing/2014/main" id="{5358671F-1DFA-DB2B-4BE3-4DE2D82BDB8A}"/>
              </a:ext>
            </a:extLst>
          </p:cNvPr>
          <p:cNvSpPr/>
          <p:nvPr/>
        </p:nvSpPr>
        <p:spPr>
          <a:xfrm rot="14407787">
            <a:off x="13416608" y="-5549454"/>
            <a:ext cx="11362494" cy="11362494"/>
          </a:xfrm>
          <a:custGeom>
            <a:avLst/>
            <a:gdLst/>
            <a:ahLst/>
            <a:cxnLst/>
            <a:rect l="l" t="t" r="r" b="b"/>
            <a:pathLst>
              <a:path w="11362494" h="11362494">
                <a:moveTo>
                  <a:pt x="0" y="0"/>
                </a:moveTo>
                <a:lnTo>
                  <a:pt x="11362493" y="0"/>
                </a:lnTo>
                <a:lnTo>
                  <a:pt x="11362493" y="11362493"/>
                </a:lnTo>
                <a:lnTo>
                  <a:pt x="0" y="11362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9498E7-33B0-9CC8-DA5C-E6A14C4B4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0800" y="5791200"/>
            <a:ext cx="4495800" cy="4495800"/>
          </a:xfrm>
          <a:prstGeom prst="rect">
            <a:avLst/>
          </a:prstGeom>
        </p:spPr>
      </p:pic>
      <p:pic>
        <p:nvPicPr>
          <p:cNvPr id="4" name="Picture 3" descr="A group of icons on a black background&#10;&#10;AI-generated content may be incorrect.">
            <a:extLst>
              <a:ext uri="{FF2B5EF4-FFF2-40B4-BE49-F238E27FC236}">
                <a16:creationId xmlns:a16="http://schemas.microsoft.com/office/drawing/2014/main" id="{5016E343-EE1A-6213-1C9F-AE595BB212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610100"/>
            <a:ext cx="5302547" cy="53025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CE3BF-0DCB-EBF7-D1B7-334BB2904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C0984F3-0E63-4221-E7BC-F8519440A0E4}"/>
              </a:ext>
            </a:extLst>
          </p:cNvPr>
          <p:cNvSpPr/>
          <p:nvPr/>
        </p:nvSpPr>
        <p:spPr>
          <a:xfrm rot="-10800000">
            <a:off x="5537900" y="6757123"/>
            <a:ext cx="7212201" cy="5507499"/>
          </a:xfrm>
          <a:custGeom>
            <a:avLst/>
            <a:gdLst/>
            <a:ahLst/>
            <a:cxnLst/>
            <a:rect l="l" t="t" r="r" b="b"/>
            <a:pathLst>
              <a:path w="7212201" h="5507499">
                <a:moveTo>
                  <a:pt x="0" y="0"/>
                </a:moveTo>
                <a:lnTo>
                  <a:pt x="7212200" y="0"/>
                </a:lnTo>
                <a:lnTo>
                  <a:pt x="7212200" y="5507499"/>
                </a:lnTo>
                <a:lnTo>
                  <a:pt x="0" y="55074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1E3819F-73A2-E787-49B0-B3D389368A8B}"/>
              </a:ext>
            </a:extLst>
          </p:cNvPr>
          <p:cNvSpPr/>
          <p:nvPr/>
        </p:nvSpPr>
        <p:spPr>
          <a:xfrm>
            <a:off x="-1454499" y="-1490312"/>
            <a:ext cx="7705725" cy="7705725"/>
          </a:xfrm>
          <a:custGeom>
            <a:avLst/>
            <a:gdLst/>
            <a:ahLst/>
            <a:cxnLst/>
            <a:rect l="l" t="t" r="r" b="b"/>
            <a:pathLst>
              <a:path w="7705725" h="7705725">
                <a:moveTo>
                  <a:pt x="0" y="0"/>
                </a:moveTo>
                <a:lnTo>
                  <a:pt x="7705726" y="0"/>
                </a:lnTo>
                <a:lnTo>
                  <a:pt x="7705726" y="7705725"/>
                </a:lnTo>
                <a:lnTo>
                  <a:pt x="0" y="7705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E69932A-D6AA-2C3A-628C-B23D99DBD410}"/>
              </a:ext>
            </a:extLst>
          </p:cNvPr>
          <p:cNvSpPr txBox="1"/>
          <p:nvPr/>
        </p:nvSpPr>
        <p:spPr>
          <a:xfrm>
            <a:off x="-2386115" y="1637538"/>
            <a:ext cx="1343025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u="none" dirty="0">
                <a:solidFill>
                  <a:schemeClr val="accent1">
                    <a:lumMod val="75000"/>
                  </a:schemeClr>
                </a:solidFill>
                <a:latin typeface="Libre Baskerville Italics" panose="020B0604020202020204" charset="0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0A5E105-6552-C757-AA30-FA8360EA0453}"/>
              </a:ext>
            </a:extLst>
          </p:cNvPr>
          <p:cNvSpPr/>
          <p:nvPr/>
        </p:nvSpPr>
        <p:spPr>
          <a:xfrm>
            <a:off x="12153900" y="-1868423"/>
            <a:ext cx="7128573" cy="7011923"/>
          </a:xfrm>
          <a:custGeom>
            <a:avLst/>
            <a:gdLst/>
            <a:ahLst/>
            <a:cxnLst/>
            <a:rect l="l" t="t" r="r" b="b"/>
            <a:pathLst>
              <a:path w="7128573" h="7011923">
                <a:moveTo>
                  <a:pt x="0" y="0"/>
                </a:moveTo>
                <a:lnTo>
                  <a:pt x="7128573" y="0"/>
                </a:lnTo>
                <a:lnTo>
                  <a:pt x="7128573" y="7011923"/>
                </a:lnTo>
                <a:lnTo>
                  <a:pt x="0" y="7011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A9A6091-C80A-E03D-720B-C9E2E3902B49}"/>
              </a:ext>
            </a:extLst>
          </p:cNvPr>
          <p:cNvSpPr txBox="1"/>
          <p:nvPr/>
        </p:nvSpPr>
        <p:spPr>
          <a:xfrm>
            <a:off x="4622752" y="7840539"/>
            <a:ext cx="9702848" cy="11065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00"/>
              </a:lnSpc>
            </a:pPr>
            <a:r>
              <a:rPr lang="en-US" sz="3600" dirty="0">
                <a:solidFill>
                  <a:srgbClr val="1C503D"/>
                </a:solidFill>
                <a:latin typeface="Noto Serif"/>
                <a:ea typeface="Noto Serif"/>
                <a:cs typeface="Noto Serif"/>
                <a:sym typeface="Noto Serif"/>
              </a:rPr>
              <a:t>— What is mental health and why is it important ?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3C86B61-CF5C-2D2A-9065-B55FFA7333C8}"/>
              </a:ext>
            </a:extLst>
          </p:cNvPr>
          <p:cNvGrpSpPr/>
          <p:nvPr/>
        </p:nvGrpSpPr>
        <p:grpSpPr>
          <a:xfrm>
            <a:off x="8353630" y="1333119"/>
            <a:ext cx="1580739" cy="1580739"/>
            <a:chOff x="0" y="0"/>
            <a:chExt cx="2107652" cy="2107652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3A52E85D-DF75-13F6-69CB-D20D2AB1C233}"/>
                </a:ext>
              </a:extLst>
            </p:cNvPr>
            <p:cNvGrpSpPr/>
            <p:nvPr/>
          </p:nvGrpSpPr>
          <p:grpSpPr>
            <a:xfrm>
              <a:off x="0" y="0"/>
              <a:ext cx="2107652" cy="2107652"/>
              <a:chOff x="0" y="0"/>
              <a:chExt cx="812800" cy="81280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57FC5280-1888-2822-5D4A-B7614EFD2FB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ADB5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314424A7-8E6D-38D3-0F01-AE4D8A4C815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C840DD0-4769-5AB9-71C5-1232B4DF50D4}"/>
                </a:ext>
              </a:extLst>
            </p:cNvPr>
            <p:cNvSpPr/>
            <p:nvPr/>
          </p:nvSpPr>
          <p:spPr>
            <a:xfrm>
              <a:off x="513551" y="529921"/>
              <a:ext cx="1080551" cy="1080551"/>
            </a:xfrm>
            <a:custGeom>
              <a:avLst/>
              <a:gdLst/>
              <a:ahLst/>
              <a:cxnLst/>
              <a:rect l="l" t="t" r="r" b="b"/>
              <a:pathLst>
                <a:path w="1080551" h="1080551">
                  <a:moveTo>
                    <a:pt x="0" y="0"/>
                  </a:moveTo>
                  <a:lnTo>
                    <a:pt x="1080551" y="0"/>
                  </a:lnTo>
                  <a:lnTo>
                    <a:pt x="1080551" y="1080551"/>
                  </a:lnTo>
                  <a:lnTo>
                    <a:pt x="0" y="1080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3" name="Picture 12" descr="A cartoon of a person sitting and holding her head&#10;&#10;AI-generated content may be incorrect.">
            <a:extLst>
              <a:ext uri="{FF2B5EF4-FFF2-40B4-BE49-F238E27FC236}">
                <a16:creationId xmlns:a16="http://schemas.microsoft.com/office/drawing/2014/main" id="{1DCA4D67-6F75-290B-4F4B-FF382A98ED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56" y="3802128"/>
            <a:ext cx="5309300" cy="5309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012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CBE91-ECF4-4B7A-6C7C-117BA001F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94CAB5-7518-1D41-93AE-AC8028EF92C1}"/>
              </a:ext>
            </a:extLst>
          </p:cNvPr>
          <p:cNvSpPr/>
          <p:nvPr/>
        </p:nvSpPr>
        <p:spPr>
          <a:xfrm rot="-10800000">
            <a:off x="5537900" y="6757123"/>
            <a:ext cx="7212201" cy="5507499"/>
          </a:xfrm>
          <a:custGeom>
            <a:avLst/>
            <a:gdLst/>
            <a:ahLst/>
            <a:cxnLst/>
            <a:rect l="l" t="t" r="r" b="b"/>
            <a:pathLst>
              <a:path w="7212201" h="5507499">
                <a:moveTo>
                  <a:pt x="0" y="0"/>
                </a:moveTo>
                <a:lnTo>
                  <a:pt x="7212200" y="0"/>
                </a:lnTo>
                <a:lnTo>
                  <a:pt x="7212200" y="5507499"/>
                </a:lnTo>
                <a:lnTo>
                  <a:pt x="0" y="55074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A32A94D-91FA-2DD1-F6C1-775653CDED50}"/>
              </a:ext>
            </a:extLst>
          </p:cNvPr>
          <p:cNvSpPr/>
          <p:nvPr/>
        </p:nvSpPr>
        <p:spPr>
          <a:xfrm>
            <a:off x="11973608" y="-1635117"/>
            <a:ext cx="7705725" cy="7705725"/>
          </a:xfrm>
          <a:custGeom>
            <a:avLst/>
            <a:gdLst/>
            <a:ahLst/>
            <a:cxnLst/>
            <a:rect l="l" t="t" r="r" b="b"/>
            <a:pathLst>
              <a:path w="7705725" h="7705725">
                <a:moveTo>
                  <a:pt x="0" y="0"/>
                </a:moveTo>
                <a:lnTo>
                  <a:pt x="7705726" y="0"/>
                </a:lnTo>
                <a:lnTo>
                  <a:pt x="7705726" y="7705725"/>
                </a:lnTo>
                <a:lnTo>
                  <a:pt x="0" y="7705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D084A68-9B69-9140-4693-EDFEFB322947}"/>
              </a:ext>
            </a:extLst>
          </p:cNvPr>
          <p:cNvSpPr txBox="1"/>
          <p:nvPr/>
        </p:nvSpPr>
        <p:spPr>
          <a:xfrm>
            <a:off x="10886" y="1233636"/>
            <a:ext cx="13299529" cy="1164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7200" u="none" dirty="0">
                <a:solidFill>
                  <a:schemeClr val="accent1">
                    <a:lumMod val="75000"/>
                  </a:schemeClr>
                </a:solidFill>
                <a:latin typeface="Libre Baskerville Italics" panose="020B0604020202020204" charset="0"/>
                <a:ea typeface="League Spartan"/>
                <a:cs typeface="League Spartan"/>
                <a:sym typeface="League Spartan"/>
              </a:rPr>
              <a:t>Research Objectives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C1FDB-9790-D74F-C8BE-D8C6F1BFEBE5}"/>
              </a:ext>
            </a:extLst>
          </p:cNvPr>
          <p:cNvSpPr txBox="1"/>
          <p:nvPr/>
        </p:nvSpPr>
        <p:spPr>
          <a:xfrm>
            <a:off x="634300" y="4248486"/>
            <a:ext cx="1102845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Fira Sans" panose="020B0503050000020004" pitchFamily="34" charset="0"/>
              </a:rPr>
              <a:t>1 – Early Mental Health Prediction Model</a:t>
            </a:r>
          </a:p>
          <a:p>
            <a:r>
              <a:rPr lang="en-US" sz="2800" dirty="0">
                <a:latin typeface="Fira Sans" panose="020B0503050000020004" pitchFamily="34" charset="0"/>
              </a:rPr>
              <a:t>To develop temporal deep-learning models (LSTM, TCN) that predict individualized "windows of vulnerability" using multimodal behavioral and speech data.</a:t>
            </a:r>
          </a:p>
          <a:p>
            <a:endParaRPr lang="en-US" sz="2800" i="1" dirty="0">
              <a:latin typeface="Fira Sans" panose="020B0503050000020004" pitchFamily="34" charset="0"/>
            </a:endParaRPr>
          </a:p>
          <a:p>
            <a:r>
              <a:rPr lang="en-US" sz="2800" b="1" dirty="0">
                <a:latin typeface="Fira Sans" panose="020B0503050000020004" pitchFamily="34" charset="0"/>
              </a:rPr>
              <a:t>2 – Real-Time Emotion Detection &amp; Personalized Intervention</a:t>
            </a:r>
          </a:p>
          <a:p>
            <a:r>
              <a:rPr lang="en-US" sz="2800" dirty="0">
                <a:latin typeface="Fira Sans" panose="020B0503050000020004" pitchFamily="34" charset="0"/>
              </a:rPr>
              <a:t>To design a system integrating facial expressions, physiological signals, and clinician feedback that delivers proactive, personalized interventions based on emotion forecasting.</a:t>
            </a:r>
          </a:p>
          <a:p>
            <a:endParaRPr lang="en-US" sz="2800" dirty="0">
              <a:latin typeface="Fira Sans" panose="020B0503050000020004" pitchFamily="34" charset="0"/>
            </a:endParaRPr>
          </a:p>
          <a:p>
            <a:endParaRPr lang="en-US" sz="2800" dirty="0">
              <a:latin typeface="Fira Sans" panose="020B05030500000200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E6B40D-6D64-47D8-A8BF-9B19707C86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0" y="4069644"/>
            <a:ext cx="6002892" cy="400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119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D6440-0B46-782A-53AE-36D07654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492DD20-57C5-D50E-C683-C3BBA1EA7995}"/>
              </a:ext>
            </a:extLst>
          </p:cNvPr>
          <p:cNvSpPr/>
          <p:nvPr/>
        </p:nvSpPr>
        <p:spPr>
          <a:xfrm rot="-10800000">
            <a:off x="5537900" y="6757123"/>
            <a:ext cx="7212201" cy="5507499"/>
          </a:xfrm>
          <a:custGeom>
            <a:avLst/>
            <a:gdLst/>
            <a:ahLst/>
            <a:cxnLst/>
            <a:rect l="l" t="t" r="r" b="b"/>
            <a:pathLst>
              <a:path w="7212201" h="5507499">
                <a:moveTo>
                  <a:pt x="0" y="0"/>
                </a:moveTo>
                <a:lnTo>
                  <a:pt x="7212200" y="0"/>
                </a:lnTo>
                <a:lnTo>
                  <a:pt x="7212200" y="5507499"/>
                </a:lnTo>
                <a:lnTo>
                  <a:pt x="0" y="55074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7610E65-889E-0531-990D-912FF536A52B}"/>
              </a:ext>
            </a:extLst>
          </p:cNvPr>
          <p:cNvSpPr/>
          <p:nvPr/>
        </p:nvSpPr>
        <p:spPr>
          <a:xfrm>
            <a:off x="11973608" y="-1635117"/>
            <a:ext cx="7705725" cy="7705725"/>
          </a:xfrm>
          <a:custGeom>
            <a:avLst/>
            <a:gdLst/>
            <a:ahLst/>
            <a:cxnLst/>
            <a:rect l="l" t="t" r="r" b="b"/>
            <a:pathLst>
              <a:path w="7705725" h="7705725">
                <a:moveTo>
                  <a:pt x="0" y="0"/>
                </a:moveTo>
                <a:lnTo>
                  <a:pt x="7705726" y="0"/>
                </a:lnTo>
                <a:lnTo>
                  <a:pt x="7705726" y="7705725"/>
                </a:lnTo>
                <a:lnTo>
                  <a:pt x="0" y="7705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DAB39EA-E0D1-60CB-2C9F-F16182B22BB9}"/>
              </a:ext>
            </a:extLst>
          </p:cNvPr>
          <p:cNvSpPr txBox="1"/>
          <p:nvPr/>
        </p:nvSpPr>
        <p:spPr>
          <a:xfrm>
            <a:off x="10886" y="1233636"/>
            <a:ext cx="13299529" cy="1164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7200" u="none" dirty="0">
                <a:solidFill>
                  <a:schemeClr val="accent1">
                    <a:lumMod val="75000"/>
                  </a:schemeClr>
                </a:solidFill>
                <a:latin typeface="Libre Baskerville Italics" panose="020B0604020202020204" charset="0"/>
                <a:ea typeface="League Spartan"/>
                <a:cs typeface="League Spartan"/>
                <a:sym typeface="League Spartan"/>
              </a:rPr>
              <a:t>Research Objectives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231319-C055-E1B5-F201-B6533F067A9A}"/>
              </a:ext>
            </a:extLst>
          </p:cNvPr>
          <p:cNvSpPr txBox="1"/>
          <p:nvPr/>
        </p:nvSpPr>
        <p:spPr>
          <a:xfrm>
            <a:off x="634300" y="4248486"/>
            <a:ext cx="1102845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Fira Sans" panose="020B0503050000020004" pitchFamily="34" charset="0"/>
              </a:rPr>
              <a:t>3 – On-Device Multimodal Summarization</a:t>
            </a:r>
          </a:p>
          <a:p>
            <a:r>
              <a:rPr lang="en-US" sz="2800" dirty="0">
                <a:latin typeface="Fira Sans" panose="020B0503050000020004" pitchFamily="34" charset="0"/>
              </a:rPr>
              <a:t>To build a lightweight, privacy-preserving AI framework that summarizes behavioral and textual signals locally on the device for early stress/anxiety/depression insights.</a:t>
            </a:r>
          </a:p>
          <a:p>
            <a:endParaRPr lang="en-US" sz="2800" i="1" dirty="0">
              <a:latin typeface="Fira Sans" panose="020B0503050000020004" pitchFamily="34" charset="0"/>
            </a:endParaRPr>
          </a:p>
          <a:p>
            <a:r>
              <a:rPr lang="en-US" sz="2800" b="1" dirty="0">
                <a:latin typeface="Fira Sans" panose="020B0503050000020004" pitchFamily="34" charset="0"/>
              </a:rPr>
              <a:t>4 – Burnout Detection &amp; ML-Driven Support System</a:t>
            </a:r>
          </a:p>
          <a:p>
            <a:r>
              <a:rPr lang="en-US" sz="2800" dirty="0">
                <a:latin typeface="Fira Sans" panose="020B0503050000020004" pitchFamily="34" charset="0"/>
              </a:rPr>
              <a:t>To classify burnout risk using NLP + behavioral analytics and generate personalized intervention strategies validated against standard burnout measures.</a:t>
            </a:r>
          </a:p>
          <a:p>
            <a:endParaRPr lang="en-US" sz="2800" dirty="0">
              <a:latin typeface="Fira Sans" panose="020B0503050000020004" pitchFamily="34" charset="0"/>
            </a:endParaRPr>
          </a:p>
          <a:p>
            <a:endParaRPr lang="en-US" sz="2800" dirty="0">
              <a:latin typeface="Fira Sans" panose="020B05030500000200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D71E16-284F-1812-1620-E932F197C5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0" y="4069644"/>
            <a:ext cx="6002892" cy="400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78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90339-BF2A-38EF-62CD-AF866BF4E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C11CEB-BD8C-0920-215A-F4F1B5CBD897}"/>
              </a:ext>
            </a:extLst>
          </p:cNvPr>
          <p:cNvSpPr/>
          <p:nvPr/>
        </p:nvSpPr>
        <p:spPr>
          <a:xfrm>
            <a:off x="0" y="1778103"/>
            <a:ext cx="18288000" cy="9604955"/>
          </a:xfrm>
          <a:custGeom>
            <a:avLst/>
            <a:gdLst/>
            <a:ahLst/>
            <a:cxnLst/>
            <a:rect l="l" t="t" r="r" b="b"/>
            <a:pathLst>
              <a:path w="19350641" h="9604955">
                <a:moveTo>
                  <a:pt x="0" y="0"/>
                </a:moveTo>
                <a:lnTo>
                  <a:pt x="19350642" y="0"/>
                </a:lnTo>
                <a:lnTo>
                  <a:pt x="19350642" y="9604954"/>
                </a:lnTo>
                <a:lnTo>
                  <a:pt x="0" y="9604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81E2197-572E-6EE6-A894-5D00D9B45C5B}"/>
              </a:ext>
            </a:extLst>
          </p:cNvPr>
          <p:cNvSpPr txBox="1"/>
          <p:nvPr/>
        </p:nvSpPr>
        <p:spPr>
          <a:xfrm>
            <a:off x="3009900" y="351609"/>
            <a:ext cx="11849100" cy="1258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5400" dirty="0">
                <a:solidFill>
                  <a:schemeClr val="accent1">
                    <a:lumMod val="75000"/>
                  </a:schemeClr>
                </a:solidFill>
                <a:latin typeface="Libre Baskerville Italics" panose="020B0604020202020204" charset="0"/>
                <a:ea typeface="League Spartan"/>
                <a:cs typeface="League Spartan"/>
                <a:sym typeface="League Spartan"/>
              </a:rPr>
              <a:t>Overall System Diagram</a:t>
            </a:r>
          </a:p>
        </p:txBody>
      </p:sp>
      <p:pic>
        <p:nvPicPr>
          <p:cNvPr id="5" name="Picture 4" descr="A screenshot of a computer flowchart&#10;&#10;AI-generated content may be incorrect.">
            <a:extLst>
              <a:ext uri="{FF2B5EF4-FFF2-40B4-BE49-F238E27FC236}">
                <a16:creationId xmlns:a16="http://schemas.microsoft.com/office/drawing/2014/main" id="{8F1DAE3C-8D70-3134-E3E4-5823BAF6ED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778103"/>
            <a:ext cx="7012406" cy="815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591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016" y="3573304"/>
            <a:ext cx="14478000" cy="2178844"/>
          </a:xfrm>
        </p:spPr>
        <p:txBody>
          <a:bodyPr>
            <a:normAutofit/>
          </a:bodyPr>
          <a:lstStyle/>
          <a:p>
            <a:pPr>
              <a:lnSpc>
                <a:spcPts val="10800"/>
              </a:lnSpc>
            </a:pPr>
            <a:r>
              <a:rPr lang="en-US" sz="5400" b="0" dirty="0">
                <a:solidFill>
                  <a:schemeClr val="accent1">
                    <a:lumMod val="75000"/>
                  </a:schemeClr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IT22917898 | </a:t>
            </a:r>
            <a:r>
              <a:rPr lang="en-US" sz="5400" b="0" dirty="0" err="1">
                <a:solidFill>
                  <a:schemeClr val="accent1">
                    <a:lumMod val="75000"/>
                  </a:schemeClr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Indrapala</a:t>
            </a:r>
            <a:r>
              <a:rPr lang="en-US" sz="5400" b="0" dirty="0">
                <a:solidFill>
                  <a:schemeClr val="accent1">
                    <a:lumMod val="75000"/>
                  </a:schemeClr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 W.V.H.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5555456"/>
            <a:ext cx="15621000" cy="2178844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Fira Sans" panose="020B0503050000020004" pitchFamily="34" charset="0"/>
              </a:rPr>
              <a:t>Student Burnout Detection and Intervention System using Machine Learning</a:t>
            </a:r>
          </a:p>
          <a:p>
            <a:endParaRPr lang="en-US" sz="2800" dirty="0">
              <a:latin typeface="Fira Sans" panose="020B0503050000020004" pitchFamily="34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Fira Sans" panose="020B0503050000020004" pitchFamily="34" charset="0"/>
              </a:rPr>
              <a:t>Specialization: 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3C49798-4967-7E45-D664-23BF4CC0C991}"/>
              </a:ext>
            </a:extLst>
          </p:cNvPr>
          <p:cNvSpPr/>
          <p:nvPr/>
        </p:nvSpPr>
        <p:spPr>
          <a:xfrm>
            <a:off x="15011400" y="340458"/>
            <a:ext cx="2776299" cy="3232846"/>
          </a:xfrm>
          <a:custGeom>
            <a:avLst/>
            <a:gdLst/>
            <a:ahLst/>
            <a:cxnLst/>
            <a:rect l="l" t="t" r="r" b="b"/>
            <a:pathLst>
              <a:path w="2776299" h="3232846">
                <a:moveTo>
                  <a:pt x="0" y="0"/>
                </a:moveTo>
                <a:lnTo>
                  <a:pt x="2776299" y="0"/>
                </a:lnTo>
                <a:lnTo>
                  <a:pt x="2776299" y="3232846"/>
                </a:lnTo>
                <a:lnTo>
                  <a:pt x="0" y="323284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FBFEF-A9E4-3A64-4F44-6C9ECFDCC2BC}"/>
              </a:ext>
            </a:extLst>
          </p:cNvPr>
          <p:cNvSpPr/>
          <p:nvPr/>
        </p:nvSpPr>
        <p:spPr>
          <a:xfrm>
            <a:off x="4267200" y="9450408"/>
            <a:ext cx="9601200" cy="641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IT22917898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|   </a:t>
            </a:r>
            <a:r>
              <a:rPr lang="en-US" sz="2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Indrapala</a:t>
            </a: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W.V.H.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|   </a:t>
            </a:r>
            <a:r>
              <a:rPr lang="en-US" sz="2800" b="1" dirty="0">
                <a:solidFill>
                  <a:schemeClr val="tx1"/>
                </a:solidFill>
              </a:rPr>
              <a:t>25-26J-278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E567F9-A241-7124-0EF5-2D94D834EB5E}"/>
              </a:ext>
            </a:extLst>
          </p:cNvPr>
          <p:cNvSpPr txBox="1"/>
          <p:nvPr/>
        </p:nvSpPr>
        <p:spPr>
          <a:xfrm>
            <a:off x="1066800" y="2096512"/>
            <a:ext cx="16764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Fira Sans" panose="020B0503050000020004" pitchFamily="34" charset="0"/>
              </a:rPr>
              <a:t>Detects early burnout using student text and behavioral patterns.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Fira Sans" panose="020B0503050000020004" pitchFamily="34" charset="0"/>
              </a:rPr>
              <a:t>Identifies subtle emotional and engagement changes before burnout escalates.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Fira Sans" panose="020B0503050000020004" pitchFamily="34" charset="0"/>
              </a:rPr>
              <a:t>Replaces reactive questionnaires with continuous AI-based monitoring.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Fira Sans" panose="020B0503050000020004" pitchFamily="34" charset="0"/>
              </a:rPr>
              <a:t>Provides early warnings instead of post-burnout assessment.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646F0-2BC6-F01A-1EED-C95FC9D854B6}"/>
              </a:ext>
            </a:extLst>
          </p:cNvPr>
          <p:cNvSpPr txBox="1"/>
          <p:nvPr/>
        </p:nvSpPr>
        <p:spPr>
          <a:xfrm>
            <a:off x="3701143" y="560614"/>
            <a:ext cx="1242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Addressing Sub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BEFFEB-4466-F398-2255-4122C9AD6AAB}"/>
              </a:ext>
            </a:extLst>
          </p:cNvPr>
          <p:cNvSpPr txBox="1"/>
          <p:nvPr/>
        </p:nvSpPr>
        <p:spPr>
          <a:xfrm>
            <a:off x="2824843" y="4951630"/>
            <a:ext cx="14173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User Requirements Addressed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1DBEE0-A11A-9D6D-35E8-DC95AA7D702C}"/>
              </a:ext>
            </a:extLst>
          </p:cNvPr>
          <p:cNvSpPr txBox="1"/>
          <p:nvPr/>
        </p:nvSpPr>
        <p:spPr>
          <a:xfrm>
            <a:off x="1066800" y="6438900"/>
            <a:ext cx="13716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Fira Sans" panose="020B0503050000020004" pitchFamily="34" charset="0"/>
              </a:rPr>
              <a:t>Early identification of stress, anxiety, and burnout.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Fira Sans" panose="020B0503050000020004" pitchFamily="34" charset="0"/>
              </a:rPr>
              <a:t>Non-intrusive monitoring without wearables.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Fira Sans" panose="020B0503050000020004" pitchFamily="34" charset="0"/>
              </a:rPr>
              <a:t>Real-time insights via a mobile app.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Fira Sans" panose="020B0503050000020004" pitchFamily="34" charset="0"/>
              </a:rPr>
              <a:t>Privacy-safe handling of sensitive mental-health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102DC-6EE8-47C1-62EA-3D8A011607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8400" y="6128386"/>
            <a:ext cx="3352800" cy="335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F9E1227-4E86-0F5C-57CF-21A7F7E9E4DC}"/>
              </a:ext>
            </a:extLst>
          </p:cNvPr>
          <p:cNvSpPr/>
          <p:nvPr/>
        </p:nvSpPr>
        <p:spPr>
          <a:xfrm>
            <a:off x="4267200" y="9450408"/>
            <a:ext cx="9601200" cy="641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IT22917898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|   </a:t>
            </a:r>
            <a:r>
              <a:rPr lang="en-US" sz="2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Indrapala</a:t>
            </a: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W.V.H.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|   </a:t>
            </a:r>
            <a:r>
              <a:rPr lang="en-US" sz="2800" b="1" dirty="0">
                <a:solidFill>
                  <a:schemeClr val="tx1"/>
                </a:solidFill>
              </a:rPr>
              <a:t>25-26J-278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18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6DDF80-4F7F-8BE1-CAF8-892B8A1C5B13}"/>
              </a:ext>
            </a:extLst>
          </p:cNvPr>
          <p:cNvSpPr txBox="1"/>
          <p:nvPr/>
        </p:nvSpPr>
        <p:spPr>
          <a:xfrm>
            <a:off x="2438400" y="723900"/>
            <a:ext cx="14586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Design Excellence / Contribution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167707-A7D1-C1C6-960B-F97D75131DAE}"/>
              </a:ext>
            </a:extLst>
          </p:cNvPr>
          <p:cNvSpPr txBox="1"/>
          <p:nvPr/>
        </p:nvSpPr>
        <p:spPr>
          <a:xfrm>
            <a:off x="1143000" y="2324100"/>
            <a:ext cx="13716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Combines NLP-based text analysis with behavioral data (multimodal approach).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Uses lightweight AI models suitable for mobile deployment.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Integrates personalized intervention recommendations.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Improves accessibility compared to counselor-dependent systems.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EEF9C7-31B9-5240-6F14-C873015E9CFD}"/>
              </a:ext>
            </a:extLst>
          </p:cNvPr>
          <p:cNvSpPr txBox="1"/>
          <p:nvPr/>
        </p:nvSpPr>
        <p:spPr>
          <a:xfrm>
            <a:off x="2423160" y="5143500"/>
            <a:ext cx="14586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User Feedback on 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708D9-F91C-1761-638A-400B088138C0}"/>
              </a:ext>
            </a:extLst>
          </p:cNvPr>
          <p:cNvSpPr txBox="1"/>
          <p:nvPr/>
        </p:nvSpPr>
        <p:spPr>
          <a:xfrm>
            <a:off x="1143000" y="6591300"/>
            <a:ext cx="15392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Students found text-based mood logging easy and comfortable.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Early alerts were perceived as helpful rather than intrusive.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Personalized suggestions increased engagement with the app.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Users preferred AI guidance as a supplement to counseling, not a replacement.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4B48C76-F267-B8CD-7686-F5C0286BAD63}"/>
              </a:ext>
            </a:extLst>
          </p:cNvPr>
          <p:cNvSpPr/>
          <p:nvPr/>
        </p:nvSpPr>
        <p:spPr>
          <a:xfrm rot="5400000">
            <a:off x="15181675" y="4668425"/>
            <a:ext cx="7128573" cy="7011923"/>
          </a:xfrm>
          <a:custGeom>
            <a:avLst/>
            <a:gdLst/>
            <a:ahLst/>
            <a:cxnLst/>
            <a:rect l="l" t="t" r="r" b="b"/>
            <a:pathLst>
              <a:path w="7128573" h="7011923">
                <a:moveTo>
                  <a:pt x="0" y="0"/>
                </a:moveTo>
                <a:lnTo>
                  <a:pt x="7128573" y="0"/>
                </a:lnTo>
                <a:lnTo>
                  <a:pt x="7128573" y="7011923"/>
                </a:lnTo>
                <a:lnTo>
                  <a:pt x="0" y="7011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558291-3FEF-2E89-C0CA-B228EDA394D4}"/>
              </a:ext>
            </a:extLst>
          </p:cNvPr>
          <p:cNvSpPr/>
          <p:nvPr/>
        </p:nvSpPr>
        <p:spPr>
          <a:xfrm>
            <a:off x="4267200" y="9450408"/>
            <a:ext cx="9601200" cy="641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IT22917898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|   </a:t>
            </a:r>
            <a:r>
              <a:rPr lang="en-US" sz="2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Indrapala</a:t>
            </a: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W.V.H.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|   </a:t>
            </a:r>
            <a:r>
              <a:rPr lang="en-US" sz="2800" b="1" dirty="0">
                <a:solidFill>
                  <a:schemeClr val="tx1"/>
                </a:solidFill>
              </a:rPr>
              <a:t>25-26J-278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080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2BD85-8E4A-BDC8-58CA-C6E86464A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F6F7B0-8725-AD3B-B8B4-A6C60E823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3642122"/>
            <a:ext cx="14478000" cy="2178844"/>
          </a:xfrm>
        </p:spPr>
        <p:txBody>
          <a:bodyPr>
            <a:normAutofit/>
          </a:bodyPr>
          <a:lstStyle/>
          <a:p>
            <a:pPr>
              <a:lnSpc>
                <a:spcPts val="10800"/>
              </a:lnSpc>
            </a:pPr>
            <a:r>
              <a:rPr lang="en-US" sz="5400" b="0" i="1" dirty="0">
                <a:solidFill>
                  <a:schemeClr val="accent1">
                    <a:lumMod val="75000"/>
                  </a:schemeClr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IT22032560 | </a:t>
            </a:r>
            <a:r>
              <a:rPr lang="pt-BR" sz="5400" b="0" i="1" dirty="0">
                <a:solidFill>
                  <a:schemeClr val="accent1">
                    <a:lumMod val="75000"/>
                  </a:schemeClr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De Silva A.H.H</a:t>
            </a:r>
            <a:endParaRPr lang="en-US" sz="5400" b="0" i="1" dirty="0">
              <a:solidFill>
                <a:schemeClr val="accent1">
                  <a:lumMod val="75000"/>
                </a:schemeClr>
              </a:solidFill>
              <a:latin typeface="Libre Baskerville Italics"/>
              <a:ea typeface="Libre Baskerville Italics"/>
              <a:cs typeface="Libre Baskerville Italics"/>
              <a:sym typeface="Libre Baskerville Itali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D60FE3-4630-DC3C-CFA7-33B5E0CA4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5555456"/>
            <a:ext cx="15011400" cy="2178844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Fira Sans" panose="020B0503050000020004" pitchFamily="34" charset="0"/>
              </a:rPr>
              <a:t>ON-DEVICE AI SUMMARIZATION OF TEXT AND BEHAVIOR</a:t>
            </a:r>
          </a:p>
          <a:p>
            <a:endParaRPr lang="en-US" sz="2800" dirty="0">
              <a:latin typeface="Fira Sans" panose="020B0503050000020004" pitchFamily="34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Fira Sans" panose="020B0503050000020004" pitchFamily="34" charset="0"/>
              </a:rPr>
              <a:t>Specialization: </a:t>
            </a:r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2AC4C738-E628-6C0D-ABC0-2784D0D64CC0}"/>
              </a:ext>
            </a:extLst>
          </p:cNvPr>
          <p:cNvSpPr/>
          <p:nvPr/>
        </p:nvSpPr>
        <p:spPr>
          <a:xfrm>
            <a:off x="15011400" y="340458"/>
            <a:ext cx="2776299" cy="3232846"/>
          </a:xfrm>
          <a:custGeom>
            <a:avLst/>
            <a:gdLst/>
            <a:ahLst/>
            <a:cxnLst/>
            <a:rect l="l" t="t" r="r" b="b"/>
            <a:pathLst>
              <a:path w="2776299" h="3232846">
                <a:moveTo>
                  <a:pt x="0" y="0"/>
                </a:moveTo>
                <a:lnTo>
                  <a:pt x="2776299" y="0"/>
                </a:lnTo>
                <a:lnTo>
                  <a:pt x="2776299" y="3232846"/>
                </a:lnTo>
                <a:lnTo>
                  <a:pt x="0" y="323284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A44385-A7E7-153B-A024-54BF1022DD17}"/>
              </a:ext>
            </a:extLst>
          </p:cNvPr>
          <p:cNvSpPr/>
          <p:nvPr/>
        </p:nvSpPr>
        <p:spPr>
          <a:xfrm>
            <a:off x="4267200" y="9450408"/>
            <a:ext cx="9601200" cy="641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IT22032560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|   </a:t>
            </a:r>
            <a:r>
              <a:rPr lang="pt-BR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 Silva A.H.H 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|   </a:t>
            </a:r>
            <a:r>
              <a:rPr lang="en-US" sz="2800" b="1" dirty="0">
                <a:solidFill>
                  <a:schemeClr val="tx1"/>
                </a:solidFill>
              </a:rPr>
              <a:t>25-26J-278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58362-DEC5-6B8E-27A3-4E680BF58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7A139-59F8-F5FF-A6A8-F0616896C24B}"/>
              </a:ext>
            </a:extLst>
          </p:cNvPr>
          <p:cNvSpPr txBox="1"/>
          <p:nvPr/>
        </p:nvSpPr>
        <p:spPr>
          <a:xfrm>
            <a:off x="1066800" y="2096512"/>
            <a:ext cx="16764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Summarizes text and behavioral data directly on the device.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Detects early signs of stress, anxiety, and depression in real time.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Eliminates cloud dependency to reduce latency and privacy risks.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Provides clear mental-health insights instead of raw data.</a:t>
            </a:r>
            <a:endParaRPr lang="en-US" sz="3200" dirty="0">
              <a:latin typeface="Fira Sans" panose="020B05030500000200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13518-4934-59C1-01D9-725403A040E2}"/>
              </a:ext>
            </a:extLst>
          </p:cNvPr>
          <p:cNvSpPr txBox="1"/>
          <p:nvPr/>
        </p:nvSpPr>
        <p:spPr>
          <a:xfrm>
            <a:off x="3701143" y="560614"/>
            <a:ext cx="1242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Addressing Sub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A503F-9AD5-B152-DB19-4C01F6DE3B00}"/>
              </a:ext>
            </a:extLst>
          </p:cNvPr>
          <p:cNvSpPr txBox="1"/>
          <p:nvPr/>
        </p:nvSpPr>
        <p:spPr>
          <a:xfrm>
            <a:off x="5181600" y="4825978"/>
            <a:ext cx="14173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User Requirements Addressed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B9F91-F38C-0A6E-F5A9-63C07D2102E7}"/>
              </a:ext>
            </a:extLst>
          </p:cNvPr>
          <p:cNvSpPr txBox="1"/>
          <p:nvPr/>
        </p:nvSpPr>
        <p:spPr>
          <a:xfrm>
            <a:off x="5410200" y="6509004"/>
            <a:ext cx="13716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Strong privacy through fully on-device processing.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Low latency and offline usability.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Lightweight AI suitable for mobile devices.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Easy-to-understand mental-health summaries.</a:t>
            </a:r>
            <a:endParaRPr lang="en-US" sz="3200" dirty="0">
              <a:latin typeface="Fira Sans" panose="020B05030500000200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98C2F9-A9BE-3651-8898-5FB0AA01C5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547584"/>
            <a:ext cx="3867772" cy="38677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2D6DF8-3AD9-5CF8-AEF8-A04B60E1042A}"/>
              </a:ext>
            </a:extLst>
          </p:cNvPr>
          <p:cNvSpPr/>
          <p:nvPr/>
        </p:nvSpPr>
        <p:spPr>
          <a:xfrm>
            <a:off x="4267200" y="9450408"/>
            <a:ext cx="9601200" cy="641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IT22032560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|   </a:t>
            </a:r>
            <a:r>
              <a:rPr lang="pt-BR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 Silva A.H.H 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|   </a:t>
            </a:r>
            <a:r>
              <a:rPr lang="en-US" sz="2800" b="1" dirty="0">
                <a:solidFill>
                  <a:schemeClr val="tx1"/>
                </a:solidFill>
              </a:rPr>
              <a:t>25-26J-278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937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9CDA5-15FA-BE3D-A0B7-26EACE38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AFBEF6-6ECA-2612-D6B5-F942A90A1299}"/>
              </a:ext>
            </a:extLst>
          </p:cNvPr>
          <p:cNvSpPr txBox="1"/>
          <p:nvPr/>
        </p:nvSpPr>
        <p:spPr>
          <a:xfrm>
            <a:off x="2438400" y="723900"/>
            <a:ext cx="14586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Design Excellence / Contribution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DA91A5-4B70-939E-72C2-A307B2B623C8}"/>
              </a:ext>
            </a:extLst>
          </p:cNvPr>
          <p:cNvSpPr txBox="1"/>
          <p:nvPr/>
        </p:nvSpPr>
        <p:spPr>
          <a:xfrm>
            <a:off x="1143000" y="2324100"/>
            <a:ext cx="13716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Introduces a multimodal on-device AI summarization framework.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Efficient fusion of text and behavioral data.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Optimized models for memory and battery constraints.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Advances privacy-preserving AI for mental-health applications.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8138A7-37F3-B247-4265-55547F1B3E98}"/>
              </a:ext>
            </a:extLst>
          </p:cNvPr>
          <p:cNvSpPr txBox="1"/>
          <p:nvPr/>
        </p:nvSpPr>
        <p:spPr>
          <a:xfrm>
            <a:off x="2423160" y="5143500"/>
            <a:ext cx="14586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User Feedback on 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C94C54-C890-A4AE-7A83-CF6CB88E9AB3}"/>
              </a:ext>
            </a:extLst>
          </p:cNvPr>
          <p:cNvSpPr txBox="1"/>
          <p:nvPr/>
        </p:nvSpPr>
        <p:spPr>
          <a:xfrm>
            <a:off x="1143000" y="6591300"/>
            <a:ext cx="15392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Users trusted the system due to local data processing.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Summarized insights were clearer than raw analytics.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Low latency improved overall user experience.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Users valued privacy over cloud-based accuracy trade-offs.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8E63418-C9DF-17CA-8A34-FF0622319A1D}"/>
              </a:ext>
            </a:extLst>
          </p:cNvPr>
          <p:cNvSpPr/>
          <p:nvPr/>
        </p:nvSpPr>
        <p:spPr>
          <a:xfrm rot="5400000">
            <a:off x="15181675" y="4668425"/>
            <a:ext cx="7128573" cy="7011923"/>
          </a:xfrm>
          <a:custGeom>
            <a:avLst/>
            <a:gdLst/>
            <a:ahLst/>
            <a:cxnLst/>
            <a:rect l="l" t="t" r="r" b="b"/>
            <a:pathLst>
              <a:path w="7128573" h="7011923">
                <a:moveTo>
                  <a:pt x="0" y="0"/>
                </a:moveTo>
                <a:lnTo>
                  <a:pt x="7128573" y="0"/>
                </a:lnTo>
                <a:lnTo>
                  <a:pt x="7128573" y="7011923"/>
                </a:lnTo>
                <a:lnTo>
                  <a:pt x="0" y="7011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F52DE5-468C-24AA-0110-8E831C7AB843}"/>
              </a:ext>
            </a:extLst>
          </p:cNvPr>
          <p:cNvSpPr/>
          <p:nvPr/>
        </p:nvSpPr>
        <p:spPr>
          <a:xfrm>
            <a:off x="4267200" y="9450408"/>
            <a:ext cx="9601200" cy="641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IT22032560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|   </a:t>
            </a:r>
            <a:r>
              <a:rPr lang="pt-BR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 Silva A.H.H 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|   </a:t>
            </a:r>
            <a:r>
              <a:rPr lang="en-US" sz="2800" b="1" dirty="0">
                <a:solidFill>
                  <a:schemeClr val="tx1"/>
                </a:solidFill>
              </a:rPr>
              <a:t>25-26J-278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057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F24A-C022-9114-9A6A-77DEC99B2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6CCC80-B591-E911-D6AE-2FBFA1279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771900"/>
            <a:ext cx="16154400" cy="2178844"/>
          </a:xfrm>
        </p:spPr>
        <p:txBody>
          <a:bodyPr>
            <a:normAutofit/>
          </a:bodyPr>
          <a:lstStyle/>
          <a:p>
            <a:pPr>
              <a:lnSpc>
                <a:spcPts val="10800"/>
              </a:lnSpc>
            </a:pPr>
            <a:r>
              <a:rPr lang="en-US" sz="5400" b="0" i="1" dirty="0">
                <a:solidFill>
                  <a:schemeClr val="accent1">
                    <a:lumMod val="75000"/>
                  </a:schemeClr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IT22321268 | Kumarasinghe K.D.K.Y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C1F6EC-DBC5-5B33-BA3B-E306BA9E8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5555456"/>
            <a:ext cx="15849600" cy="2178844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Fira Sans" panose="020B0503050000020004" pitchFamily="34" charset="0"/>
              </a:rPr>
              <a:t>Early Mental Health Prediction Model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>
                <a:solidFill>
                  <a:schemeClr val="tx1"/>
                </a:solidFill>
              </a:rPr>
              <a:t>Specialization: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1E95F0-4265-16DA-6692-52076C25BE1E}"/>
              </a:ext>
            </a:extLst>
          </p:cNvPr>
          <p:cNvSpPr/>
          <p:nvPr/>
        </p:nvSpPr>
        <p:spPr>
          <a:xfrm>
            <a:off x="4031726" y="9504140"/>
            <a:ext cx="10224548" cy="547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b="1" dirty="0">
                <a:solidFill>
                  <a:schemeClr val="tx1"/>
                </a:solidFill>
              </a:rPr>
              <a:t>IT22321268</a:t>
            </a:r>
            <a:r>
              <a:rPr lang="en-US" sz="2700" dirty="0">
                <a:solidFill>
                  <a:schemeClr val="tx1"/>
                </a:solidFill>
              </a:rPr>
              <a:t>  |   </a:t>
            </a:r>
            <a:r>
              <a:rPr lang="en-US" sz="2700" b="1" dirty="0">
                <a:solidFill>
                  <a:schemeClr val="tx1"/>
                </a:solidFill>
              </a:rPr>
              <a:t>Kumarasinghe K.D.K.Y </a:t>
            </a:r>
            <a:r>
              <a:rPr lang="en-US" sz="2700" dirty="0">
                <a:solidFill>
                  <a:schemeClr val="tx1"/>
                </a:solidFill>
              </a:rPr>
              <a:t>| </a:t>
            </a:r>
            <a:r>
              <a:rPr lang="en-US" sz="2400" b="1" dirty="0">
                <a:solidFill>
                  <a:schemeClr val="tx1"/>
                </a:solidFill>
              </a:rPr>
              <a:t>25-26J-278</a:t>
            </a:r>
            <a:endParaRPr lang="en-US" sz="2700" dirty="0">
              <a:solidFill>
                <a:schemeClr val="tx1"/>
              </a:solidFill>
            </a:endParaRPr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131DF88D-47A0-457B-B2DD-F2C8DC950870}"/>
              </a:ext>
            </a:extLst>
          </p:cNvPr>
          <p:cNvSpPr/>
          <p:nvPr/>
        </p:nvSpPr>
        <p:spPr>
          <a:xfrm>
            <a:off x="15011400" y="340458"/>
            <a:ext cx="2776299" cy="3232846"/>
          </a:xfrm>
          <a:custGeom>
            <a:avLst/>
            <a:gdLst/>
            <a:ahLst/>
            <a:cxnLst/>
            <a:rect l="l" t="t" r="r" b="b"/>
            <a:pathLst>
              <a:path w="2776299" h="3232846">
                <a:moveTo>
                  <a:pt x="0" y="0"/>
                </a:moveTo>
                <a:lnTo>
                  <a:pt x="2776299" y="0"/>
                </a:lnTo>
                <a:lnTo>
                  <a:pt x="2776299" y="3232846"/>
                </a:lnTo>
                <a:lnTo>
                  <a:pt x="0" y="323284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50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FFEA9-CCC5-4EED-1903-56098AD92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942236-12C9-C751-F98E-A7ED0A3F767D}"/>
              </a:ext>
            </a:extLst>
          </p:cNvPr>
          <p:cNvSpPr txBox="1"/>
          <p:nvPr/>
        </p:nvSpPr>
        <p:spPr>
          <a:xfrm>
            <a:off x="1066800" y="2096512"/>
            <a:ext cx="16764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Predicts early mental-health decline using multimodal behavioral data.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Identifies risk trends days or weeks before symptoms worsen.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Moves from detection to </a:t>
            </a:r>
            <a:r>
              <a:rPr lang="en-US" sz="3200" i="1" dirty="0"/>
              <a:t>forecasting</a:t>
            </a:r>
            <a:r>
              <a:rPr lang="en-US" sz="3200" dirty="0"/>
              <a:t> of mental-health risks.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Enables proactive rather than reactive interventions.</a:t>
            </a:r>
            <a:endParaRPr lang="en-US" sz="3200" dirty="0">
              <a:latin typeface="Fira Sans" panose="020B05030500000200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8AF027-5648-6685-C8D9-5CB32BDFC080}"/>
              </a:ext>
            </a:extLst>
          </p:cNvPr>
          <p:cNvSpPr txBox="1"/>
          <p:nvPr/>
        </p:nvSpPr>
        <p:spPr>
          <a:xfrm>
            <a:off x="3701143" y="560614"/>
            <a:ext cx="1242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Addressing Sub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60C39-B621-561C-774E-5B0EFE324D0B}"/>
              </a:ext>
            </a:extLst>
          </p:cNvPr>
          <p:cNvSpPr txBox="1"/>
          <p:nvPr/>
        </p:nvSpPr>
        <p:spPr>
          <a:xfrm>
            <a:off x="5181600" y="4825978"/>
            <a:ext cx="14173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User Requirements Addressed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1CB5B-4DD9-8797-55E2-633CF3B1BED4}"/>
              </a:ext>
            </a:extLst>
          </p:cNvPr>
          <p:cNvSpPr txBox="1"/>
          <p:nvPr/>
        </p:nvSpPr>
        <p:spPr>
          <a:xfrm>
            <a:off x="5943600" y="6509004"/>
            <a:ext cx="12192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Early warning alerts before severe mental-health issues.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Personalized predictions based on individual behavior patterns.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Continuous monitoring without manual input.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Privacy-preserving on-device data processing.</a:t>
            </a:r>
            <a:endParaRPr lang="en-US" sz="3200" dirty="0">
              <a:latin typeface="Fira Sans" panose="020B05030500000200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A961BB-5D6E-E31D-F59B-A23A28F111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6123814"/>
            <a:ext cx="4084282" cy="25586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D869628-7CD5-C6D7-8044-428459B3684B}"/>
              </a:ext>
            </a:extLst>
          </p:cNvPr>
          <p:cNvSpPr/>
          <p:nvPr/>
        </p:nvSpPr>
        <p:spPr>
          <a:xfrm>
            <a:off x="4031726" y="9504140"/>
            <a:ext cx="10224548" cy="547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b="1" dirty="0">
                <a:solidFill>
                  <a:schemeClr val="tx1"/>
                </a:solidFill>
              </a:rPr>
              <a:t>IT22321268</a:t>
            </a:r>
            <a:r>
              <a:rPr lang="en-US" sz="2700" dirty="0">
                <a:solidFill>
                  <a:schemeClr val="tx1"/>
                </a:solidFill>
              </a:rPr>
              <a:t>  |   </a:t>
            </a:r>
            <a:r>
              <a:rPr lang="en-US" sz="2700" b="1" dirty="0">
                <a:solidFill>
                  <a:schemeClr val="tx1"/>
                </a:solidFill>
              </a:rPr>
              <a:t>Kumarasinghe K.D.K.Y </a:t>
            </a:r>
            <a:r>
              <a:rPr lang="en-US" sz="2700" dirty="0">
                <a:solidFill>
                  <a:schemeClr val="tx1"/>
                </a:solidFill>
              </a:rPr>
              <a:t>| </a:t>
            </a:r>
            <a:r>
              <a:rPr lang="en-US" sz="2400" b="1" dirty="0">
                <a:solidFill>
                  <a:schemeClr val="tx1"/>
                </a:solidFill>
              </a:rPr>
              <a:t>25-26J-278</a:t>
            </a:r>
            <a:endParaRPr 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13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2A502-76B7-3FC7-8755-DB6A9A24B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6F9D44-5C1F-5160-B4B4-FD80AC60BE52}"/>
              </a:ext>
            </a:extLst>
          </p:cNvPr>
          <p:cNvSpPr txBox="1"/>
          <p:nvPr/>
        </p:nvSpPr>
        <p:spPr>
          <a:xfrm>
            <a:off x="2438400" y="723900"/>
            <a:ext cx="14586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Design Excellence / Contribution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E49329-70E7-2E13-16D6-A998BE7955F2}"/>
              </a:ext>
            </a:extLst>
          </p:cNvPr>
          <p:cNvSpPr txBox="1"/>
          <p:nvPr/>
        </p:nvSpPr>
        <p:spPr>
          <a:xfrm>
            <a:off x="1143000" y="2324100"/>
            <a:ext cx="13716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Uses temporal deep-learning models (Attention-LSTM, TCN).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Introduces risk-window forecasting instead of static classification.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Provides explainable AI-based alerts for user trust.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Improves prevention-focused mental-health support.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469D4-CFFD-0482-F7DC-F1D53EEFC360}"/>
              </a:ext>
            </a:extLst>
          </p:cNvPr>
          <p:cNvSpPr txBox="1"/>
          <p:nvPr/>
        </p:nvSpPr>
        <p:spPr>
          <a:xfrm>
            <a:off x="2423160" y="5143500"/>
            <a:ext cx="14586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User Feedback on 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946218-09EA-DEEE-3A38-D050CBFA025F}"/>
              </a:ext>
            </a:extLst>
          </p:cNvPr>
          <p:cNvSpPr txBox="1"/>
          <p:nvPr/>
        </p:nvSpPr>
        <p:spPr>
          <a:xfrm>
            <a:off x="1143000" y="6591300"/>
            <a:ext cx="15392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Users appreciated advance warnings over instant detection.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Predictive alerts helped users plan breaks and self-care.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Explainable alerts increased confidence in predictions.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Users preferred forecasting-based support over passive monitoring.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65C68BD-6460-16BA-4F4C-B3C75A60289B}"/>
              </a:ext>
            </a:extLst>
          </p:cNvPr>
          <p:cNvSpPr/>
          <p:nvPr/>
        </p:nvSpPr>
        <p:spPr>
          <a:xfrm rot="5400000">
            <a:off x="15181675" y="4668425"/>
            <a:ext cx="7128573" cy="7011923"/>
          </a:xfrm>
          <a:custGeom>
            <a:avLst/>
            <a:gdLst/>
            <a:ahLst/>
            <a:cxnLst/>
            <a:rect l="l" t="t" r="r" b="b"/>
            <a:pathLst>
              <a:path w="7128573" h="7011923">
                <a:moveTo>
                  <a:pt x="0" y="0"/>
                </a:moveTo>
                <a:lnTo>
                  <a:pt x="7128573" y="0"/>
                </a:lnTo>
                <a:lnTo>
                  <a:pt x="7128573" y="7011923"/>
                </a:lnTo>
                <a:lnTo>
                  <a:pt x="0" y="7011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8D8FA0-55B8-31E8-DA9B-5866807C9199}"/>
              </a:ext>
            </a:extLst>
          </p:cNvPr>
          <p:cNvSpPr/>
          <p:nvPr/>
        </p:nvSpPr>
        <p:spPr>
          <a:xfrm>
            <a:off x="4031726" y="9504140"/>
            <a:ext cx="10224548" cy="547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b="1" dirty="0">
                <a:solidFill>
                  <a:schemeClr val="tx1"/>
                </a:solidFill>
              </a:rPr>
              <a:t>IT22321268</a:t>
            </a:r>
            <a:r>
              <a:rPr lang="en-US" sz="2700" dirty="0">
                <a:solidFill>
                  <a:schemeClr val="tx1"/>
                </a:solidFill>
              </a:rPr>
              <a:t>  |   </a:t>
            </a:r>
            <a:r>
              <a:rPr lang="en-US" sz="2700" b="1" dirty="0">
                <a:solidFill>
                  <a:schemeClr val="tx1"/>
                </a:solidFill>
              </a:rPr>
              <a:t>Kumarasinghe K.D.K.Y </a:t>
            </a:r>
            <a:r>
              <a:rPr lang="en-US" sz="2700" dirty="0">
                <a:solidFill>
                  <a:schemeClr val="tx1"/>
                </a:solidFill>
              </a:rPr>
              <a:t>| </a:t>
            </a:r>
            <a:r>
              <a:rPr lang="en-US" sz="2400" b="1" dirty="0">
                <a:solidFill>
                  <a:schemeClr val="tx1"/>
                </a:solidFill>
              </a:rPr>
              <a:t>25-26J-278</a:t>
            </a:r>
            <a:endParaRPr 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821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F76A1-97E9-235E-6253-500138D01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70D7ED-F2E3-6DAF-A540-849FF2A1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848100"/>
            <a:ext cx="14478000" cy="1447800"/>
          </a:xfrm>
        </p:spPr>
        <p:txBody>
          <a:bodyPr>
            <a:normAutofit/>
          </a:bodyPr>
          <a:lstStyle/>
          <a:p>
            <a:pPr>
              <a:lnSpc>
                <a:spcPts val="10800"/>
              </a:lnSpc>
            </a:pPr>
            <a:r>
              <a:rPr lang="en-US" sz="5400" b="0" i="1" dirty="0">
                <a:solidFill>
                  <a:schemeClr val="accent1">
                    <a:lumMod val="75000"/>
                  </a:schemeClr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IT22888334 | Ranathunga A.K.M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0E1801-C4BB-8582-817A-23D14547A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6065044"/>
            <a:ext cx="15925800" cy="2178844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Fira Sans" panose="020B0503050000020004" pitchFamily="34" charset="0"/>
              </a:rPr>
              <a:t>FACIAL EMOTION DETECTION WITH PERSONALIZED INTERVENTIONS FOR STUDENT MENTAL HEALTH PLATFORM</a:t>
            </a:r>
          </a:p>
          <a:p>
            <a:endParaRPr lang="en-US" sz="2800" dirty="0">
              <a:latin typeface="Fira Sans" panose="020B0503050000020004" pitchFamily="34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Fira Sans" panose="020B0503050000020004" pitchFamily="34" charset="0"/>
              </a:rPr>
              <a:t>Specialization: </a:t>
            </a:r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21389675-2BB2-CB05-9C64-061CA896214A}"/>
              </a:ext>
            </a:extLst>
          </p:cNvPr>
          <p:cNvSpPr/>
          <p:nvPr/>
        </p:nvSpPr>
        <p:spPr>
          <a:xfrm>
            <a:off x="15011400" y="340458"/>
            <a:ext cx="2776299" cy="3232846"/>
          </a:xfrm>
          <a:custGeom>
            <a:avLst/>
            <a:gdLst/>
            <a:ahLst/>
            <a:cxnLst/>
            <a:rect l="l" t="t" r="r" b="b"/>
            <a:pathLst>
              <a:path w="2776299" h="3232846">
                <a:moveTo>
                  <a:pt x="0" y="0"/>
                </a:moveTo>
                <a:lnTo>
                  <a:pt x="2776299" y="0"/>
                </a:lnTo>
                <a:lnTo>
                  <a:pt x="2776299" y="3232846"/>
                </a:lnTo>
                <a:lnTo>
                  <a:pt x="0" y="323284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6D9A72-8FCD-F291-D098-9ACECCEF194D}"/>
              </a:ext>
            </a:extLst>
          </p:cNvPr>
          <p:cNvSpPr/>
          <p:nvPr/>
        </p:nvSpPr>
        <p:spPr>
          <a:xfrm>
            <a:off x="4267200" y="9450408"/>
            <a:ext cx="9601200" cy="641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IT22888334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|   </a:t>
            </a: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Ranathunga A.K.M 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|   </a:t>
            </a:r>
            <a:r>
              <a:rPr lang="en-US" sz="2800" b="1" dirty="0">
                <a:solidFill>
                  <a:schemeClr val="tx1"/>
                </a:solidFill>
              </a:rPr>
              <a:t>25-26J-278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151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38B53-B2D5-3BAE-25BE-45A3C3A7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7DD801-1A6C-6753-3338-47B32487267B}"/>
              </a:ext>
            </a:extLst>
          </p:cNvPr>
          <p:cNvSpPr txBox="1"/>
          <p:nvPr/>
        </p:nvSpPr>
        <p:spPr>
          <a:xfrm>
            <a:off x="1066800" y="2096512"/>
            <a:ext cx="16764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Detects emotions using facial expressions and heart-rate signals.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Forecasts stress before it escalates using sequence models.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Delivers real-time, personalized interventions.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Integrates clinician feedback for safer decision-making.</a:t>
            </a:r>
            <a:endParaRPr lang="en-US" sz="3200" dirty="0">
              <a:latin typeface="Fira Sans" panose="020B05030500000200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DD317-87F9-6992-AB27-1826E6B8E995}"/>
              </a:ext>
            </a:extLst>
          </p:cNvPr>
          <p:cNvSpPr txBox="1"/>
          <p:nvPr/>
        </p:nvSpPr>
        <p:spPr>
          <a:xfrm>
            <a:off x="3701143" y="560614"/>
            <a:ext cx="1242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Addressing Sub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F3880-A2EF-47A9-2A66-5A44B708DF36}"/>
              </a:ext>
            </a:extLst>
          </p:cNvPr>
          <p:cNvSpPr txBox="1"/>
          <p:nvPr/>
        </p:nvSpPr>
        <p:spPr>
          <a:xfrm>
            <a:off x="5181600" y="4825978"/>
            <a:ext cx="14173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User Requirements Addressed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A48FF9-8C35-7EFC-F292-25D8258E71FA}"/>
              </a:ext>
            </a:extLst>
          </p:cNvPr>
          <p:cNvSpPr txBox="1"/>
          <p:nvPr/>
        </p:nvSpPr>
        <p:spPr>
          <a:xfrm>
            <a:off x="5410200" y="6509004"/>
            <a:ext cx="13716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Timely support during high-stress moments.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Personalized intervention type, timing, and intensity.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Human-in-the-loop (clinician-guided) reliability.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Secure handling of sensitive emotional data.</a:t>
            </a:r>
            <a:endParaRPr lang="en-US" sz="3200" dirty="0">
              <a:latin typeface="Fira Sans" panose="020B05030500000200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979904-C733-814D-D2A7-17F002EEEE15}"/>
              </a:ext>
            </a:extLst>
          </p:cNvPr>
          <p:cNvSpPr/>
          <p:nvPr/>
        </p:nvSpPr>
        <p:spPr>
          <a:xfrm>
            <a:off x="4267200" y="9450408"/>
            <a:ext cx="9601200" cy="641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IT22888334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|   </a:t>
            </a: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Ranathunga A.K.M 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|   </a:t>
            </a:r>
            <a:r>
              <a:rPr lang="en-US" sz="2800" b="1" dirty="0">
                <a:solidFill>
                  <a:schemeClr val="tx1"/>
                </a:solidFill>
              </a:rPr>
              <a:t>25-26J-278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F13C50-A197-321F-32EE-FDDB8DCF93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34" y="4825978"/>
            <a:ext cx="4127522" cy="41275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9411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3726F-795F-9227-DD7C-5F41E065A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229271-E76B-7E4B-42A7-4A188BD688DF}"/>
              </a:ext>
            </a:extLst>
          </p:cNvPr>
          <p:cNvSpPr txBox="1"/>
          <p:nvPr/>
        </p:nvSpPr>
        <p:spPr>
          <a:xfrm>
            <a:off x="2438400" y="723900"/>
            <a:ext cx="14586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Design Excellence / Contribution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244777-752D-D3E4-97D1-7EC85051A6BB}"/>
              </a:ext>
            </a:extLst>
          </p:cNvPr>
          <p:cNvSpPr txBox="1"/>
          <p:nvPr/>
        </p:nvSpPr>
        <p:spPr>
          <a:xfrm>
            <a:off x="1143000" y="2324100"/>
            <a:ext cx="13716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Combines emotion detection, forecasting, and intervention in one system.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Uses Transformers for proactive stress prediction.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Introduces clinician-in-the-loop adaptive learning.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Supports culturally sensitive student mental-health care.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FB579-E445-AB27-98DD-D7B0E08F222D}"/>
              </a:ext>
            </a:extLst>
          </p:cNvPr>
          <p:cNvSpPr txBox="1"/>
          <p:nvPr/>
        </p:nvSpPr>
        <p:spPr>
          <a:xfrm>
            <a:off x="2423160" y="5143500"/>
            <a:ext cx="14586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User Feedback on 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153464-646A-CF82-E0A6-945FDF8577FD}"/>
              </a:ext>
            </a:extLst>
          </p:cNvPr>
          <p:cNvSpPr txBox="1"/>
          <p:nvPr/>
        </p:nvSpPr>
        <p:spPr>
          <a:xfrm>
            <a:off x="1143000" y="6591300"/>
            <a:ext cx="15392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Students felt interventions were timely and relevant.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Clinicians valued the feedback-driven personalization.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Proactive alerts reduced stress escalation.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/>
              <a:t>Users trusted the system due to expert involvement.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AA36B91-FC17-7C79-DE4D-429FD0854C01}"/>
              </a:ext>
            </a:extLst>
          </p:cNvPr>
          <p:cNvSpPr/>
          <p:nvPr/>
        </p:nvSpPr>
        <p:spPr>
          <a:xfrm rot="5400000">
            <a:off x="15181675" y="4668425"/>
            <a:ext cx="7128573" cy="7011923"/>
          </a:xfrm>
          <a:custGeom>
            <a:avLst/>
            <a:gdLst/>
            <a:ahLst/>
            <a:cxnLst/>
            <a:rect l="l" t="t" r="r" b="b"/>
            <a:pathLst>
              <a:path w="7128573" h="7011923">
                <a:moveTo>
                  <a:pt x="0" y="0"/>
                </a:moveTo>
                <a:lnTo>
                  <a:pt x="7128573" y="0"/>
                </a:lnTo>
                <a:lnTo>
                  <a:pt x="7128573" y="7011923"/>
                </a:lnTo>
                <a:lnTo>
                  <a:pt x="0" y="7011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D067A3-1C07-803E-E198-BCAE25D0CBD1}"/>
              </a:ext>
            </a:extLst>
          </p:cNvPr>
          <p:cNvSpPr/>
          <p:nvPr/>
        </p:nvSpPr>
        <p:spPr>
          <a:xfrm>
            <a:off x="4267200" y="9450408"/>
            <a:ext cx="9601200" cy="641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IT22888334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|   </a:t>
            </a: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Ranathunga A.K.M 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|   </a:t>
            </a:r>
            <a:r>
              <a:rPr lang="en-US" sz="2800" b="1" dirty="0">
                <a:solidFill>
                  <a:schemeClr val="tx1"/>
                </a:solidFill>
              </a:rPr>
              <a:t>25-26J-278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293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ACC5E-2EA8-24DB-1996-9D08A6BA5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F54DF0-6C44-A874-5ACA-232B2A5AFCF3}"/>
              </a:ext>
            </a:extLst>
          </p:cNvPr>
          <p:cNvSpPr txBox="1"/>
          <p:nvPr/>
        </p:nvSpPr>
        <p:spPr>
          <a:xfrm>
            <a:off x="5600700" y="647700"/>
            <a:ext cx="7048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(Project Title)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685FB-BEC7-2BC5-4AC6-8D7404A60E54}"/>
              </a:ext>
            </a:extLst>
          </p:cNvPr>
          <p:cNvSpPr txBox="1"/>
          <p:nvPr/>
        </p:nvSpPr>
        <p:spPr>
          <a:xfrm>
            <a:off x="1143000" y="2324100"/>
            <a:ext cx="137160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Customer Persona</a:t>
            </a:r>
            <a:br>
              <a:rPr lang="en-US" sz="3200" dirty="0"/>
            </a:br>
            <a:r>
              <a:rPr lang="en-US" sz="3200" dirty="0"/>
              <a:t>• University students (18–25) facing stress, anxiety, or burnout</a:t>
            </a:r>
            <a:br>
              <a:rPr lang="en-US" sz="3200" dirty="0"/>
            </a:br>
            <a:r>
              <a:rPr lang="en-US" sz="3200" dirty="0"/>
              <a:t>• Universities and counseling centers seeking scalable mental-health tools</a:t>
            </a:r>
          </a:p>
          <a:p>
            <a:r>
              <a:rPr lang="en-US" sz="3200" b="1" dirty="0"/>
              <a:t>Market Size</a:t>
            </a:r>
            <a:br>
              <a:rPr lang="en-US" sz="3200" dirty="0"/>
            </a:br>
            <a:r>
              <a:rPr lang="en-US" sz="3200" dirty="0"/>
              <a:t>• Growing student mental-health app market in Sri Lanka and South Asia</a:t>
            </a:r>
            <a:br>
              <a:rPr lang="en-US" sz="3200" dirty="0"/>
            </a:br>
            <a:r>
              <a:rPr lang="en-US" sz="3200" dirty="0"/>
              <a:t>• Universities, private institutes, NGOs, and wellness platforms</a:t>
            </a:r>
          </a:p>
          <a:p>
            <a:r>
              <a:rPr lang="en-US" sz="3200" b="1" dirty="0"/>
              <a:t>What Is Unique in the Solution</a:t>
            </a:r>
            <a:br>
              <a:rPr lang="en-US" sz="3200" dirty="0"/>
            </a:br>
            <a:r>
              <a:rPr lang="en-US" sz="3200" dirty="0"/>
              <a:t>• Multimodal AI (text, behavior, speech, facial, physiological data)</a:t>
            </a:r>
            <a:br>
              <a:rPr lang="en-US" sz="3200" dirty="0"/>
            </a:br>
            <a:r>
              <a:rPr lang="en-US" sz="3200" dirty="0"/>
              <a:t>• Early detection + forecasting + personalized interventions</a:t>
            </a:r>
            <a:br>
              <a:rPr lang="en-US" sz="3200" dirty="0"/>
            </a:br>
            <a:r>
              <a:rPr lang="en-US" sz="3200" dirty="0"/>
              <a:t>• Privacy-first, on-device processing with clinician-in-the-loop support</a:t>
            </a:r>
          </a:p>
          <a:p>
            <a:r>
              <a:rPr lang="en-US" sz="3200" b="1" dirty="0"/>
              <a:t>Cost Recovery Model</a:t>
            </a:r>
            <a:br>
              <a:rPr lang="en-US" sz="3200" dirty="0"/>
            </a:br>
            <a:r>
              <a:rPr lang="en-US" sz="3200" dirty="0"/>
              <a:t>• Subscription plans for universities and institutions</a:t>
            </a:r>
            <a:br>
              <a:rPr lang="en-US" sz="3200" dirty="0"/>
            </a:br>
            <a:r>
              <a:rPr lang="en-US" sz="3200" dirty="0"/>
              <a:t>• Freemium model for students with premium features</a:t>
            </a:r>
            <a:br>
              <a:rPr lang="en-US" sz="3200" dirty="0"/>
            </a:br>
            <a:r>
              <a:rPr lang="en-US" sz="3200" dirty="0"/>
              <a:t>• Licensing the platform to educational and healthcare organizations</a:t>
            </a:r>
          </a:p>
        </p:txBody>
      </p:sp>
    </p:spTree>
    <p:extLst>
      <p:ext uri="{BB962C8B-B14F-4D97-AF65-F5344CB8AC3E}">
        <p14:creationId xmlns:p14="http://schemas.microsoft.com/office/powerpoint/2010/main" val="1980389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2156" y="2085533"/>
            <a:ext cx="7588444" cy="3489875"/>
            <a:chOff x="0" y="0"/>
            <a:chExt cx="1758768" cy="1362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768" cy="1362066"/>
            </a:xfrm>
            <a:custGeom>
              <a:avLst/>
              <a:gdLst/>
              <a:ahLst/>
              <a:cxnLst/>
              <a:rect l="l" t="t" r="r" b="b"/>
              <a:pathLst>
                <a:path w="1758768" h="1362066">
                  <a:moveTo>
                    <a:pt x="121210" y="0"/>
                  </a:moveTo>
                  <a:lnTo>
                    <a:pt x="1637558" y="0"/>
                  </a:lnTo>
                  <a:cubicBezTo>
                    <a:pt x="1669704" y="0"/>
                    <a:pt x="1700535" y="12770"/>
                    <a:pt x="1723266" y="35502"/>
                  </a:cubicBezTo>
                  <a:cubicBezTo>
                    <a:pt x="1745997" y="58233"/>
                    <a:pt x="1758768" y="89063"/>
                    <a:pt x="1758768" y="121210"/>
                  </a:cubicBezTo>
                  <a:lnTo>
                    <a:pt x="1758768" y="1240856"/>
                  </a:lnTo>
                  <a:cubicBezTo>
                    <a:pt x="1758768" y="1273003"/>
                    <a:pt x="1745997" y="1303833"/>
                    <a:pt x="1723266" y="1326564"/>
                  </a:cubicBezTo>
                  <a:cubicBezTo>
                    <a:pt x="1700535" y="1349296"/>
                    <a:pt x="1669704" y="1362066"/>
                    <a:pt x="1637558" y="1362066"/>
                  </a:cubicBezTo>
                  <a:lnTo>
                    <a:pt x="121210" y="1362066"/>
                  </a:lnTo>
                  <a:cubicBezTo>
                    <a:pt x="89063" y="1362066"/>
                    <a:pt x="58233" y="1349296"/>
                    <a:pt x="35502" y="1326564"/>
                  </a:cubicBezTo>
                  <a:cubicBezTo>
                    <a:pt x="12770" y="1303833"/>
                    <a:pt x="0" y="1273003"/>
                    <a:pt x="0" y="1240856"/>
                  </a:cubicBezTo>
                  <a:lnTo>
                    <a:pt x="0" y="121210"/>
                  </a:lnTo>
                  <a:cubicBezTo>
                    <a:pt x="0" y="89063"/>
                    <a:pt x="12770" y="58233"/>
                    <a:pt x="35502" y="35502"/>
                  </a:cubicBezTo>
                  <a:cubicBezTo>
                    <a:pt x="58233" y="12770"/>
                    <a:pt x="89063" y="0"/>
                    <a:pt x="121210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758768" cy="1381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77400" y="2036722"/>
            <a:ext cx="7588444" cy="3538685"/>
            <a:chOff x="0" y="0"/>
            <a:chExt cx="1723187" cy="13620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3187" cy="1362066"/>
            </a:xfrm>
            <a:custGeom>
              <a:avLst/>
              <a:gdLst/>
              <a:ahLst/>
              <a:cxnLst/>
              <a:rect l="l" t="t" r="r" b="b"/>
              <a:pathLst>
                <a:path w="1723187" h="1362066">
                  <a:moveTo>
                    <a:pt x="123713" y="0"/>
                  </a:moveTo>
                  <a:lnTo>
                    <a:pt x="1599474" y="0"/>
                  </a:lnTo>
                  <a:cubicBezTo>
                    <a:pt x="1667799" y="0"/>
                    <a:pt x="1723187" y="55388"/>
                    <a:pt x="1723187" y="123713"/>
                  </a:cubicBezTo>
                  <a:lnTo>
                    <a:pt x="1723187" y="1238353"/>
                  </a:lnTo>
                  <a:cubicBezTo>
                    <a:pt x="1723187" y="1306678"/>
                    <a:pt x="1667799" y="1362066"/>
                    <a:pt x="1599474" y="1362066"/>
                  </a:cubicBezTo>
                  <a:lnTo>
                    <a:pt x="123713" y="1362066"/>
                  </a:lnTo>
                  <a:cubicBezTo>
                    <a:pt x="55388" y="1362066"/>
                    <a:pt x="0" y="1306678"/>
                    <a:pt x="0" y="1238353"/>
                  </a:cubicBezTo>
                  <a:lnTo>
                    <a:pt x="0" y="123713"/>
                  </a:lnTo>
                  <a:cubicBezTo>
                    <a:pt x="0" y="55388"/>
                    <a:pt x="55388" y="0"/>
                    <a:pt x="123713" y="0"/>
                  </a:cubicBezTo>
                  <a:close/>
                </a:path>
              </a:pathLst>
            </a:custGeom>
            <a:solidFill>
              <a:srgbClr val="A0ADE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723187" cy="1381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 rot="-17263">
            <a:off x="1499241" y="2581817"/>
            <a:ext cx="5253712" cy="449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7"/>
              </a:lnSpc>
            </a:pPr>
            <a:r>
              <a:rPr lang="en-US" sz="3200" b="1" dirty="0">
                <a:latin typeface="Fira Sans" panose="020B0503050000020004" pitchFamily="34" charset="0"/>
              </a:rPr>
              <a:t>Customer Persona</a:t>
            </a:r>
            <a:r>
              <a:rPr lang="en-US" sz="3200" b="1" spc="-97" dirty="0">
                <a:solidFill>
                  <a:srgbClr val="000000"/>
                </a:solidFill>
                <a:latin typeface="Fira Sans" panose="020B0503050000020004" pitchFamily="34" charset="0"/>
                <a:ea typeface="DM Sans Bold"/>
                <a:cs typeface="DM Sans Bold"/>
                <a:sym typeface="DM Sans Bold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 rot="-17263">
            <a:off x="10229651" y="2577219"/>
            <a:ext cx="3422801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7"/>
              </a:lnSpc>
            </a:pPr>
            <a:r>
              <a:rPr lang="en-US" sz="3200" b="1" dirty="0">
                <a:latin typeface="Fira Sans" panose="020B0503050000020004" pitchFamily="34" charset="0"/>
              </a:rPr>
              <a:t>Market Size</a:t>
            </a:r>
            <a:endParaRPr lang="en-US" sz="3200" b="1" spc="-97" dirty="0">
              <a:solidFill>
                <a:srgbClr val="000000"/>
              </a:solidFill>
              <a:latin typeface="Fira Sans" panose="020B0503050000020004" pitchFamily="34" charset="0"/>
              <a:ea typeface="DM Sans Bold"/>
              <a:cs typeface="DM Sans Bold"/>
              <a:sym typeface="DM Sans Bold"/>
            </a:endParaRPr>
          </a:p>
        </p:txBody>
      </p:sp>
      <p:sp>
        <p:nvSpPr>
          <p:cNvPr id="10" name="TextBox 10"/>
          <p:cNvSpPr txBox="1"/>
          <p:nvPr/>
        </p:nvSpPr>
        <p:spPr>
          <a:xfrm rot="-17263">
            <a:off x="1428804" y="3453351"/>
            <a:ext cx="6873280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400" dirty="0"/>
              <a:t>• University students (18–25) facing stress, anxiety, or burnout</a:t>
            </a:r>
            <a:br>
              <a:rPr lang="en-US" sz="2400" dirty="0"/>
            </a:br>
            <a:r>
              <a:rPr lang="en-US" sz="2400" dirty="0"/>
              <a:t>• Universities and counseling centers seeking scalable mental-health tools</a:t>
            </a:r>
            <a:endParaRPr lang="en-US" sz="24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9677292" y="6083320"/>
            <a:ext cx="7588444" cy="3790272"/>
            <a:chOff x="0" y="0"/>
            <a:chExt cx="1720550" cy="13620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20550" cy="1362066"/>
            </a:xfrm>
            <a:custGeom>
              <a:avLst/>
              <a:gdLst/>
              <a:ahLst/>
              <a:cxnLst/>
              <a:rect l="l" t="t" r="r" b="b"/>
              <a:pathLst>
                <a:path w="1720550" h="1362066">
                  <a:moveTo>
                    <a:pt x="123903" y="0"/>
                  </a:moveTo>
                  <a:lnTo>
                    <a:pt x="1596647" y="0"/>
                  </a:lnTo>
                  <a:cubicBezTo>
                    <a:pt x="1629508" y="0"/>
                    <a:pt x="1661023" y="13054"/>
                    <a:pt x="1684260" y="36290"/>
                  </a:cubicBezTo>
                  <a:cubicBezTo>
                    <a:pt x="1707496" y="59526"/>
                    <a:pt x="1720550" y="91042"/>
                    <a:pt x="1720550" y="123903"/>
                  </a:cubicBezTo>
                  <a:lnTo>
                    <a:pt x="1720550" y="1238163"/>
                  </a:lnTo>
                  <a:cubicBezTo>
                    <a:pt x="1720550" y="1306593"/>
                    <a:pt x="1665077" y="1362066"/>
                    <a:pt x="1596647" y="1362066"/>
                  </a:cubicBezTo>
                  <a:lnTo>
                    <a:pt x="123903" y="1362066"/>
                  </a:lnTo>
                  <a:cubicBezTo>
                    <a:pt x="55473" y="1362066"/>
                    <a:pt x="0" y="1306593"/>
                    <a:pt x="0" y="1238163"/>
                  </a:cubicBezTo>
                  <a:lnTo>
                    <a:pt x="0" y="123903"/>
                  </a:lnTo>
                  <a:cubicBezTo>
                    <a:pt x="0" y="55473"/>
                    <a:pt x="55473" y="0"/>
                    <a:pt x="123903" y="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720550" cy="1381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 rot="-17263">
            <a:off x="10018763" y="3405033"/>
            <a:ext cx="6905503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400" dirty="0"/>
              <a:t>• Growing student mental-health app market in Sri Lanka and South Asia</a:t>
            </a:r>
            <a:br>
              <a:rPr lang="en-US" sz="2400" dirty="0"/>
            </a:br>
            <a:r>
              <a:rPr lang="en-US" sz="2400" dirty="0"/>
              <a:t>• Universities, private institutes, NGOs, and wellness platforms</a:t>
            </a:r>
            <a:endParaRPr lang="en-US" sz="24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" name="Group 11">
            <a:extLst>
              <a:ext uri="{FF2B5EF4-FFF2-40B4-BE49-F238E27FC236}">
                <a16:creationId xmlns:a16="http://schemas.microsoft.com/office/drawing/2014/main" id="{E3AB73B9-BD07-98E9-8017-118CB7B97F03}"/>
              </a:ext>
            </a:extLst>
          </p:cNvPr>
          <p:cNvGrpSpPr/>
          <p:nvPr/>
        </p:nvGrpSpPr>
        <p:grpSpPr>
          <a:xfrm>
            <a:off x="1022156" y="6132130"/>
            <a:ext cx="7588444" cy="3741462"/>
            <a:chOff x="0" y="0"/>
            <a:chExt cx="1720550" cy="1362066"/>
          </a:xfrm>
        </p:grpSpPr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3E62F5E2-4E3F-7A45-65EE-C99F05F392F4}"/>
                </a:ext>
              </a:extLst>
            </p:cNvPr>
            <p:cNvSpPr/>
            <p:nvPr/>
          </p:nvSpPr>
          <p:spPr>
            <a:xfrm>
              <a:off x="0" y="0"/>
              <a:ext cx="1720550" cy="1362066"/>
            </a:xfrm>
            <a:custGeom>
              <a:avLst/>
              <a:gdLst/>
              <a:ahLst/>
              <a:cxnLst/>
              <a:rect l="l" t="t" r="r" b="b"/>
              <a:pathLst>
                <a:path w="1720550" h="1362066">
                  <a:moveTo>
                    <a:pt x="123903" y="0"/>
                  </a:moveTo>
                  <a:lnTo>
                    <a:pt x="1596647" y="0"/>
                  </a:lnTo>
                  <a:cubicBezTo>
                    <a:pt x="1629508" y="0"/>
                    <a:pt x="1661023" y="13054"/>
                    <a:pt x="1684260" y="36290"/>
                  </a:cubicBezTo>
                  <a:cubicBezTo>
                    <a:pt x="1707496" y="59526"/>
                    <a:pt x="1720550" y="91042"/>
                    <a:pt x="1720550" y="123903"/>
                  </a:cubicBezTo>
                  <a:lnTo>
                    <a:pt x="1720550" y="1238163"/>
                  </a:lnTo>
                  <a:cubicBezTo>
                    <a:pt x="1720550" y="1306593"/>
                    <a:pt x="1665077" y="1362066"/>
                    <a:pt x="1596647" y="1362066"/>
                  </a:cubicBezTo>
                  <a:lnTo>
                    <a:pt x="123903" y="1362066"/>
                  </a:lnTo>
                  <a:cubicBezTo>
                    <a:pt x="55473" y="1362066"/>
                    <a:pt x="0" y="1306593"/>
                    <a:pt x="0" y="1238163"/>
                  </a:cubicBezTo>
                  <a:lnTo>
                    <a:pt x="0" y="123903"/>
                  </a:lnTo>
                  <a:cubicBezTo>
                    <a:pt x="0" y="55473"/>
                    <a:pt x="55473" y="0"/>
                    <a:pt x="123903" y="0"/>
                  </a:cubicBezTo>
                  <a:close/>
                </a:path>
              </a:pathLst>
            </a:custGeom>
            <a:solidFill>
              <a:srgbClr val="C5D3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13">
              <a:extLst>
                <a:ext uri="{FF2B5EF4-FFF2-40B4-BE49-F238E27FC236}">
                  <a16:creationId xmlns:a16="http://schemas.microsoft.com/office/drawing/2014/main" id="{A5CE10A5-A6CB-0384-BE7E-CA6FC0A3B905}"/>
                </a:ext>
              </a:extLst>
            </p:cNvPr>
            <p:cNvSpPr txBox="1"/>
            <p:nvPr/>
          </p:nvSpPr>
          <p:spPr>
            <a:xfrm>
              <a:off x="0" y="-19050"/>
              <a:ext cx="1720550" cy="1381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7"/>
                </a:lnSpc>
              </a:pPr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0476ED5-1089-29AC-7166-6C50C4696DC6}"/>
              </a:ext>
            </a:extLst>
          </p:cNvPr>
          <p:cNvSpPr txBox="1"/>
          <p:nvPr/>
        </p:nvSpPr>
        <p:spPr>
          <a:xfrm>
            <a:off x="5735631" y="464742"/>
            <a:ext cx="7048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(Project Title)</a:t>
            </a:r>
          </a:p>
        </p:txBody>
      </p:sp>
      <p:sp>
        <p:nvSpPr>
          <p:cNvPr id="16" name="TextBox 16"/>
          <p:cNvSpPr txBox="1"/>
          <p:nvPr/>
        </p:nvSpPr>
        <p:spPr>
          <a:xfrm rot="-17263">
            <a:off x="1378184" y="7249355"/>
            <a:ext cx="6876387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/>
              <a:t>• Multimodal AI (text, behavior, speech, facial, physiological data)</a:t>
            </a:r>
            <a:br>
              <a:rPr lang="en-US" sz="2400" dirty="0"/>
            </a:br>
            <a:r>
              <a:rPr lang="en-US" sz="2400" dirty="0"/>
              <a:t>• Early detection + forecasting + personalized interventions</a:t>
            </a:r>
            <a:br>
              <a:rPr lang="en-US" sz="2400" dirty="0"/>
            </a:br>
            <a:r>
              <a:rPr lang="en-US" sz="2400" dirty="0"/>
              <a:t>• Privacy-first, on-device processing with clinician-in-the-loop support</a:t>
            </a:r>
          </a:p>
        </p:txBody>
      </p:sp>
      <p:sp>
        <p:nvSpPr>
          <p:cNvPr id="14" name="TextBox 14"/>
          <p:cNvSpPr txBox="1"/>
          <p:nvPr/>
        </p:nvSpPr>
        <p:spPr>
          <a:xfrm rot="-17263">
            <a:off x="1437375" y="6530154"/>
            <a:ext cx="7046029" cy="449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7"/>
              </a:lnSpc>
            </a:pPr>
            <a:r>
              <a:rPr lang="en-US" sz="3200" b="1" dirty="0">
                <a:latin typeface="Fira Sans" panose="020B0503050000020004" pitchFamily="34" charset="0"/>
              </a:rPr>
              <a:t>What Is Unique in the Solution</a:t>
            </a:r>
            <a:endParaRPr lang="en-US" sz="3200" b="1" spc="-97" dirty="0">
              <a:solidFill>
                <a:srgbClr val="000000"/>
              </a:solidFill>
              <a:latin typeface="Fira Sans" panose="020B0503050000020004" pitchFamily="34" charset="0"/>
              <a:ea typeface="DM Sans Bold"/>
              <a:cs typeface="DM Sans Bold"/>
              <a:sym typeface="DM Sans Bold"/>
            </a:endParaRP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28D1B6AD-32F8-37BF-5C3F-6232DFCFB1B7}"/>
              </a:ext>
            </a:extLst>
          </p:cNvPr>
          <p:cNvSpPr txBox="1"/>
          <p:nvPr/>
        </p:nvSpPr>
        <p:spPr>
          <a:xfrm rot="-17263">
            <a:off x="10196107" y="6699303"/>
            <a:ext cx="6250872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37"/>
              </a:lnSpc>
            </a:pPr>
            <a:r>
              <a:rPr lang="en-US" sz="3200" b="1" dirty="0">
                <a:latin typeface="Fira Sans" panose="020B0503050000020004" pitchFamily="34" charset="0"/>
              </a:rPr>
              <a:t>Cost Recovery</a:t>
            </a:r>
            <a:endParaRPr lang="en-US" sz="3200" b="1" spc="-97" dirty="0">
              <a:solidFill>
                <a:srgbClr val="000000"/>
              </a:solidFill>
              <a:latin typeface="Fira Sans" panose="020B0503050000020004" pitchFamily="34" charset="0"/>
              <a:ea typeface="DM Sans Bold"/>
              <a:cs typeface="DM Sans Bold"/>
              <a:sym typeface="DM Sans Bold"/>
            </a:endParaRP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FAD90BCD-D3F9-4D84-AEC9-C9783F6B8C26}"/>
              </a:ext>
            </a:extLst>
          </p:cNvPr>
          <p:cNvSpPr txBox="1"/>
          <p:nvPr/>
        </p:nvSpPr>
        <p:spPr>
          <a:xfrm rot="21582737">
            <a:off x="10181805" y="7511614"/>
            <a:ext cx="6876387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/>
              <a:t>• Subscription plans for universities and institutions</a:t>
            </a:r>
            <a:br>
              <a:rPr lang="en-US" sz="2400" dirty="0"/>
            </a:br>
            <a:r>
              <a:rPr lang="en-US" sz="2400" dirty="0"/>
              <a:t>• Freemium model for students with premium features</a:t>
            </a:r>
            <a:br>
              <a:rPr lang="en-US" sz="2400" dirty="0"/>
            </a:br>
            <a:r>
              <a:rPr lang="en-US" sz="2400" dirty="0"/>
              <a:t>• Licensing the platform to educational and healthcare organizations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620"/>
            <a:ext cx="18288000" cy="14266105"/>
          </a:xfrm>
          <a:custGeom>
            <a:avLst/>
            <a:gdLst/>
            <a:ahLst/>
            <a:cxnLst/>
            <a:rect l="l" t="t" r="r" b="b"/>
            <a:pathLst>
              <a:path w="18288000" h="14266105">
                <a:moveTo>
                  <a:pt x="0" y="0"/>
                </a:moveTo>
                <a:lnTo>
                  <a:pt x="18288000" y="0"/>
                </a:lnTo>
                <a:lnTo>
                  <a:pt x="18288000" y="14266106"/>
                </a:lnTo>
                <a:lnTo>
                  <a:pt x="0" y="14266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172200" y="2476500"/>
            <a:ext cx="13482842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i="1" dirty="0">
                <a:solidFill>
                  <a:srgbClr val="FFFFFF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1963</TotalTime>
  <Words>1173</Words>
  <Application>Microsoft Office PowerPoint</Application>
  <PresentationFormat>Custom</PresentationFormat>
  <Paragraphs>140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DM Sans</vt:lpstr>
      <vt:lpstr>Cambria</vt:lpstr>
      <vt:lpstr>Libre Baskerville Italics</vt:lpstr>
      <vt:lpstr>Wingdings</vt:lpstr>
      <vt:lpstr>Calibri</vt:lpstr>
      <vt:lpstr>Libre Baskerville Bold</vt:lpstr>
      <vt:lpstr>Noto Serif</vt:lpstr>
      <vt:lpstr>Arial</vt:lpstr>
      <vt:lpstr>Fira Sans</vt:lpstr>
      <vt:lpstr>Libre Baskerville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IT22917898 | Indrapala W.V.H. </vt:lpstr>
      <vt:lpstr>PowerPoint Presentation</vt:lpstr>
      <vt:lpstr>PowerPoint Presentation</vt:lpstr>
      <vt:lpstr>IT22032560 | De Silva A.H.H</vt:lpstr>
      <vt:lpstr>PowerPoint Presentation</vt:lpstr>
      <vt:lpstr>PowerPoint Presentation</vt:lpstr>
      <vt:lpstr>IT22321268 | Kumarasinghe K.D.K.Y</vt:lpstr>
      <vt:lpstr>PowerPoint Presentation</vt:lpstr>
      <vt:lpstr>PowerPoint Presentation</vt:lpstr>
      <vt:lpstr>IT22888334 | Ranathunga A.K.M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The Benefits of Family Therapy</dc:title>
  <cp:lastModifiedBy>Kumarasinghe M.G.H. it21304538</cp:lastModifiedBy>
  <cp:revision>14</cp:revision>
  <dcterms:created xsi:type="dcterms:W3CDTF">2006-08-16T00:00:00Z</dcterms:created>
  <dcterms:modified xsi:type="dcterms:W3CDTF">2025-12-31T13:13:42Z</dcterms:modified>
  <dc:identifier>DAG67CYuYXs</dc:identifier>
</cp:coreProperties>
</file>